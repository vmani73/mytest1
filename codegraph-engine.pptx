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codegraph </a:t>
            </a:r>
            <a:pPr algn="ctr" indent="0" marL="0">
              <a:buNone/>
            </a:pPr>
            <a:r>
              <a:rPr lang="en-US" sz="3200" b="1" dirty="0">
                <a:solidFill>
                  <a:srgbClr val="4F3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Codemind builds, updates and uses the code graph automatically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2661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2626614" cy="502920"/>
          </a:xfrm>
          <a:prstGeom prst="rect">
            <a:avLst/>
          </a:prstGeom>
          <a:solidFill>
            <a:srgbClr val="4F3A93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522476"/>
            <a:ext cx="292608" cy="292608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85216" y="1522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0976" y="1417320"/>
            <a:ext cx="20231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EXTRACT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043" y="2084832"/>
            <a:ext cx="566928" cy="5669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3504" y="2743200"/>
            <a:ext cx="2334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file and pull out its structure.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" y="3291840"/>
            <a:ext cx="2297430" cy="0"/>
          </a:xfrm>
          <a:prstGeom prst="line">
            <a:avLst/>
          </a:prstGeom>
          <a:noFill/>
          <a:ln w="12700">
            <a:solidFill>
              <a:srgbClr val="E7E8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" y="3520440"/>
            <a:ext cx="64008" cy="64008"/>
          </a:xfrm>
          <a:prstGeom prst="ellipse">
            <a:avLst/>
          </a:prstGeom>
          <a:solidFill>
            <a:srgbClr val="4F3A93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" y="3438144"/>
            <a:ext cx="21694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Parsing
</a:t>
            </a:r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becomes a syntax tree.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" y="4270248"/>
            <a:ext cx="64008" cy="64008"/>
          </a:xfrm>
          <a:prstGeom prst="ellipse">
            <a:avLst/>
          </a:prstGeom>
          <a:solidFill>
            <a:srgbClr val="4F3A93"/>
          </a:solidFill>
          <a:ln/>
        </p:spPr>
      </p:sp>
      <p:sp>
        <p:nvSpPr>
          <p:cNvPr id="15" name="Text 12"/>
          <p:cNvSpPr/>
          <p:nvPr/>
        </p:nvSpPr>
        <p:spPr>
          <a:xfrm>
            <a:off x="768096" y="4187952"/>
            <a:ext cx="21694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
</a:t>
            </a:r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classes, functions, variables.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" y="5020056"/>
            <a:ext cx="64008" cy="64008"/>
          </a:xfrm>
          <a:prstGeom prst="ellipse">
            <a:avLst/>
          </a:prstGeom>
          <a:solidFill>
            <a:srgbClr val="4F3A93"/>
          </a:solidFill>
          <a:ln/>
        </p:spPr>
      </p:sp>
      <p:sp>
        <p:nvSpPr>
          <p:cNvPr id="17" name="Text 14"/>
          <p:cNvSpPr/>
          <p:nvPr/>
        </p:nvSpPr>
        <p:spPr>
          <a:xfrm>
            <a:off x="768096" y="4937760"/>
            <a:ext cx="21694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Extraction
</a:t>
            </a:r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imports, inherits, references.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083814" y="28803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339846" y="1417320"/>
            <a:ext cx="262661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43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339846" y="1417320"/>
            <a:ext cx="2626614" cy="502920"/>
          </a:xfrm>
          <a:prstGeom prst="rect">
            <a:avLst/>
          </a:prstGeom>
          <a:solidFill>
            <a:srgbClr val="1D5FA8"/>
          </a:solidFill>
          <a:ln/>
        </p:spPr>
      </p:sp>
      <p:sp>
        <p:nvSpPr>
          <p:cNvPr id="21" name="Shape 18"/>
          <p:cNvSpPr/>
          <p:nvPr/>
        </p:nvSpPr>
        <p:spPr>
          <a:xfrm>
            <a:off x="3467862" y="1522476"/>
            <a:ext cx="292608" cy="292608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467862" y="1522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833622" y="1417320"/>
            <a:ext cx="20231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GRAPH</a:t>
            </a:r>
            <a:endParaRPr lang="en-US" sz="11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689" y="2084832"/>
            <a:ext cx="566928" cy="56692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486150" y="2743200"/>
            <a:ext cx="2334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per-file graphs into one whole.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3504438" y="3291840"/>
            <a:ext cx="2297430" cy="0"/>
          </a:xfrm>
          <a:prstGeom prst="line">
            <a:avLst/>
          </a:prstGeom>
          <a:noFill/>
          <a:ln w="12700">
            <a:solidFill>
              <a:srgbClr val="E7E8EC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504438" y="3520440"/>
            <a:ext cx="64008" cy="64008"/>
          </a:xfrm>
          <a:prstGeom prst="ellipse">
            <a:avLst/>
          </a:prstGeom>
          <a:solidFill>
            <a:srgbClr val="1D5FA8"/>
          </a:solidFill>
          <a:ln/>
        </p:spPr>
      </p:sp>
      <p:sp>
        <p:nvSpPr>
          <p:cNvPr id="28" name="Text 24"/>
          <p:cNvSpPr/>
          <p:nvPr/>
        </p:nvSpPr>
        <p:spPr>
          <a:xfrm>
            <a:off x="3650742" y="3438144"/>
            <a:ext cx="21694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
</a:t>
            </a:r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Per-file graphs combined into one.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504438" y="4270248"/>
            <a:ext cx="64008" cy="64008"/>
          </a:xfrm>
          <a:prstGeom prst="ellipse">
            <a:avLst/>
          </a:prstGeom>
          <a:solidFill>
            <a:srgbClr val="1D5FA8"/>
          </a:solidFill>
          <a:ln/>
        </p:spPr>
      </p:sp>
      <p:sp>
        <p:nvSpPr>
          <p:cNvPr id="30" name="Text 26"/>
          <p:cNvSpPr/>
          <p:nvPr/>
        </p:nvSpPr>
        <p:spPr>
          <a:xfrm>
            <a:off x="3650742" y="4187952"/>
            <a:ext cx="21694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Symbols
</a:t>
            </a:r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linked to real definitions.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3504438" y="5020056"/>
            <a:ext cx="64008" cy="64008"/>
          </a:xfrm>
          <a:prstGeom prst="ellipse">
            <a:avLst/>
          </a:prstGeom>
          <a:solidFill>
            <a:srgbClr val="1D5FA8"/>
          </a:solidFill>
          <a:ln/>
        </p:spPr>
      </p:sp>
      <p:sp>
        <p:nvSpPr>
          <p:cNvPr id="32" name="Text 28"/>
          <p:cNvSpPr/>
          <p:nvPr/>
        </p:nvSpPr>
        <p:spPr>
          <a:xfrm>
            <a:off x="3650742" y="4937760"/>
            <a:ext cx="21694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Graph
</a:t>
            </a:r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and edges for the whole repo.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66460" y="28803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6222492" y="1417320"/>
            <a:ext cx="262661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430">
                <a:alpha val="1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222492" y="1417320"/>
            <a:ext cx="2626614" cy="502920"/>
          </a:xfrm>
          <a:prstGeom prst="rect">
            <a:avLst/>
          </a:prstGeom>
          <a:solidFill>
            <a:srgbClr val="1F8A54"/>
          </a:solidFill>
          <a:ln/>
        </p:spPr>
      </p:sp>
      <p:sp>
        <p:nvSpPr>
          <p:cNvPr id="36" name="Shape 32"/>
          <p:cNvSpPr/>
          <p:nvPr/>
        </p:nvSpPr>
        <p:spPr>
          <a:xfrm>
            <a:off x="6350508" y="1522476"/>
            <a:ext cx="292608" cy="292608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7" name="Text 33"/>
          <p:cNvSpPr/>
          <p:nvPr/>
        </p:nvSpPr>
        <p:spPr>
          <a:xfrm>
            <a:off x="6350508" y="1522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6716268" y="1417320"/>
            <a:ext cx="20231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SELF-UPDATE</a:t>
            </a:r>
            <a:endParaRPr lang="en-US" sz="115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335" y="2084832"/>
            <a:ext cx="566928" cy="56692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368796" y="2743200"/>
            <a:ext cx="2334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the graph and keep it current.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6387084" y="3291840"/>
            <a:ext cx="2297430" cy="0"/>
          </a:xfrm>
          <a:prstGeom prst="line">
            <a:avLst/>
          </a:prstGeom>
          <a:noFill/>
          <a:ln w="12700">
            <a:solidFill>
              <a:srgbClr val="E7E8EC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6387084" y="3520440"/>
            <a:ext cx="64008" cy="64008"/>
          </a:xfrm>
          <a:prstGeom prst="ellipse">
            <a:avLst/>
          </a:prstGeom>
          <a:solidFill>
            <a:srgbClr val="1F8A54"/>
          </a:solidFill>
          <a:ln/>
        </p:spPr>
      </p:sp>
      <p:sp>
        <p:nvSpPr>
          <p:cNvPr id="43" name="Text 38"/>
          <p:cNvSpPr/>
          <p:nvPr/>
        </p:nvSpPr>
        <p:spPr>
          <a:xfrm>
            <a:off x="6533388" y="3438144"/>
            <a:ext cx="21694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codegraph.json
</a:t>
            </a:r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persisted to disk on every build.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6387084" y="4270248"/>
            <a:ext cx="64008" cy="64008"/>
          </a:xfrm>
          <a:prstGeom prst="ellipse">
            <a:avLst/>
          </a:prstGeom>
          <a:solidFill>
            <a:srgbClr val="1F8A54"/>
          </a:solidFill>
          <a:ln/>
        </p:spPr>
      </p:sp>
      <p:sp>
        <p:nvSpPr>
          <p:cNvPr id="45" name="Text 40"/>
          <p:cNvSpPr/>
          <p:nvPr/>
        </p:nvSpPr>
        <p:spPr>
          <a:xfrm>
            <a:off x="6533388" y="4187952"/>
            <a:ext cx="21694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
</a:t>
            </a:r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 triggers a targeted re-parse.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6387084" y="5020056"/>
            <a:ext cx="64008" cy="64008"/>
          </a:xfrm>
          <a:prstGeom prst="ellipse">
            <a:avLst/>
          </a:prstGeom>
          <a:solidFill>
            <a:srgbClr val="1F8A54"/>
          </a:solidFill>
          <a:ln/>
        </p:spPr>
      </p:sp>
      <p:sp>
        <p:nvSpPr>
          <p:cNvPr id="47" name="Text 42"/>
          <p:cNvSpPr/>
          <p:nvPr/>
        </p:nvSpPr>
        <p:spPr>
          <a:xfrm>
            <a:off x="6533388" y="4937760"/>
            <a:ext cx="21694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Patch
</a:t>
            </a:r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affected nodes and edges update.</a:t>
            </a:r>
            <a:endParaRPr lang="en-US" sz="1100" dirty="0"/>
          </a:p>
        </p:txBody>
      </p:sp>
      <p:sp>
        <p:nvSpPr>
          <p:cNvPr id="48" name="Text 43"/>
          <p:cNvSpPr/>
          <p:nvPr/>
        </p:nvSpPr>
        <p:spPr>
          <a:xfrm>
            <a:off x="8849106" y="28803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Shape 44"/>
          <p:cNvSpPr/>
          <p:nvPr/>
        </p:nvSpPr>
        <p:spPr>
          <a:xfrm>
            <a:off x="9105138" y="1417320"/>
            <a:ext cx="262661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430">
                <a:alpha val="12000"/>
              </a:srgbClr>
            </a:outerShdw>
          </a:effectLst>
        </p:spPr>
      </p:sp>
      <p:sp>
        <p:nvSpPr>
          <p:cNvPr id="50" name="Shape 45"/>
          <p:cNvSpPr/>
          <p:nvPr/>
        </p:nvSpPr>
        <p:spPr>
          <a:xfrm>
            <a:off x="9105138" y="1417320"/>
            <a:ext cx="2626614" cy="502920"/>
          </a:xfrm>
          <a:prstGeom prst="rect">
            <a:avLst/>
          </a:prstGeom>
          <a:solidFill>
            <a:srgbClr val="D9720C"/>
          </a:solidFill>
          <a:ln/>
        </p:spPr>
      </p:sp>
      <p:sp>
        <p:nvSpPr>
          <p:cNvPr id="51" name="Shape 46"/>
          <p:cNvSpPr/>
          <p:nvPr/>
        </p:nvSpPr>
        <p:spPr>
          <a:xfrm>
            <a:off x="9233154" y="1522476"/>
            <a:ext cx="292608" cy="292608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2" name="Text 47"/>
          <p:cNvSpPr/>
          <p:nvPr/>
        </p:nvSpPr>
        <p:spPr>
          <a:xfrm>
            <a:off x="9233154" y="1522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3" name="Text 48"/>
          <p:cNvSpPr/>
          <p:nvPr/>
        </p:nvSpPr>
        <p:spPr>
          <a:xfrm>
            <a:off x="9598914" y="1417320"/>
            <a:ext cx="20231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TARGETED WORK</a:t>
            </a:r>
            <a:endParaRPr lang="en-US" sz="1150" dirty="0"/>
          </a:p>
        </p:txBody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981" y="2084832"/>
            <a:ext cx="566928" cy="566928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9251442" y="2743200"/>
            <a:ext cx="2334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get precise, minimal context.</a:t>
            </a:r>
            <a:endParaRPr lang="en-US" sz="1150" dirty="0"/>
          </a:p>
        </p:txBody>
      </p:sp>
      <p:sp>
        <p:nvSpPr>
          <p:cNvPr id="56" name="Shape 50"/>
          <p:cNvSpPr/>
          <p:nvPr/>
        </p:nvSpPr>
        <p:spPr>
          <a:xfrm>
            <a:off x="9269730" y="3291840"/>
            <a:ext cx="2297430" cy="0"/>
          </a:xfrm>
          <a:prstGeom prst="line">
            <a:avLst/>
          </a:prstGeom>
          <a:noFill/>
          <a:ln w="12700">
            <a:solidFill>
              <a:srgbClr val="E7E8EC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9269730" y="3520440"/>
            <a:ext cx="64008" cy="64008"/>
          </a:xfrm>
          <a:prstGeom prst="ellipse">
            <a:avLst/>
          </a:prstGeom>
          <a:solidFill>
            <a:srgbClr val="D9720C"/>
          </a:solidFill>
          <a:ln/>
        </p:spPr>
      </p:sp>
      <p:sp>
        <p:nvSpPr>
          <p:cNvPr id="58" name="Text 52"/>
          <p:cNvSpPr/>
          <p:nvPr/>
        </p:nvSpPr>
        <p:spPr>
          <a:xfrm>
            <a:off x="9416034" y="3438144"/>
            <a:ext cx="21694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Lookup
</a:t>
            </a:r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maps to the exact graph node.</a:t>
            </a:r>
            <a:endParaRPr lang="en-US" sz="1100" dirty="0"/>
          </a:p>
        </p:txBody>
      </p:sp>
      <p:sp>
        <p:nvSpPr>
          <p:cNvPr id="59" name="Shape 53"/>
          <p:cNvSpPr/>
          <p:nvPr/>
        </p:nvSpPr>
        <p:spPr>
          <a:xfrm>
            <a:off x="9269730" y="4270248"/>
            <a:ext cx="64008" cy="64008"/>
          </a:xfrm>
          <a:prstGeom prst="ellipse">
            <a:avLst/>
          </a:prstGeom>
          <a:solidFill>
            <a:srgbClr val="D9720C"/>
          </a:solidFill>
          <a:ln/>
        </p:spPr>
      </p:sp>
      <p:sp>
        <p:nvSpPr>
          <p:cNvPr id="60" name="Text 54"/>
          <p:cNvSpPr/>
          <p:nvPr/>
        </p:nvSpPr>
        <p:spPr>
          <a:xfrm>
            <a:off x="9416034" y="4187952"/>
            <a:ext cx="21694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Subgraph
</a:t>
            </a:r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callers, callees, definition pulled.</a:t>
            </a:r>
            <a:endParaRPr lang="en-US" sz="1100" dirty="0"/>
          </a:p>
        </p:txBody>
      </p:sp>
      <p:sp>
        <p:nvSpPr>
          <p:cNvPr id="61" name="Shape 55"/>
          <p:cNvSpPr/>
          <p:nvPr/>
        </p:nvSpPr>
        <p:spPr>
          <a:xfrm>
            <a:off x="9269730" y="5020056"/>
            <a:ext cx="64008" cy="64008"/>
          </a:xfrm>
          <a:prstGeom prst="ellipse">
            <a:avLst/>
          </a:prstGeom>
          <a:solidFill>
            <a:srgbClr val="D9720C"/>
          </a:solidFill>
          <a:ln/>
        </p:spPr>
      </p:sp>
      <p:sp>
        <p:nvSpPr>
          <p:cNvPr id="62" name="Text 56"/>
          <p:cNvSpPr/>
          <p:nvPr/>
        </p:nvSpPr>
        <p:spPr>
          <a:xfrm>
            <a:off x="9416034" y="4937760"/>
            <a:ext cx="21694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Context
</a:t>
            </a:r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use relevant code, not the repo.</a:t>
            </a:r>
            <a:endParaRPr lang="en-US" sz="1100" dirty="0"/>
          </a:p>
        </p:txBody>
      </p:sp>
      <p:sp>
        <p:nvSpPr>
          <p:cNvPr id="63" name="Shape 57"/>
          <p:cNvSpPr/>
          <p:nvPr/>
        </p:nvSpPr>
        <p:spPr>
          <a:xfrm>
            <a:off x="457200" y="6053328"/>
            <a:ext cx="11274552" cy="566928"/>
          </a:xfrm>
          <a:prstGeom prst="rect">
            <a:avLst/>
          </a:prstGeom>
          <a:solidFill>
            <a:srgbClr val="FAFAFB"/>
          </a:solidFill>
          <a:ln w="12700">
            <a:solidFill>
              <a:srgbClr val="E7E8EC"/>
            </a:solidFill>
            <a:prstDash val="solid"/>
          </a:ln>
        </p:spPr>
      </p:sp>
      <p:pic>
        <p:nvPicPr>
          <p:cNvPr id="6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399" y="6208776"/>
            <a:ext cx="256032" cy="256032"/>
          </a:xfrm>
          <a:prstGeom prst="rect">
            <a:avLst/>
          </a:prstGeom>
        </p:spPr>
      </p:pic>
      <p:sp>
        <p:nvSpPr>
          <p:cNvPr id="65" name="Text 58"/>
          <p:cNvSpPr/>
          <p:nvPr/>
        </p:nvSpPr>
        <p:spPr>
          <a:xfrm>
            <a:off x="1272159" y="60533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Fixes</a:t>
            </a:r>
            <a:endParaRPr lang="en-US" sz="1150" dirty="0"/>
          </a:p>
        </p:txBody>
      </p:sp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5037" y="6208776"/>
            <a:ext cx="256032" cy="256032"/>
          </a:xfrm>
          <a:prstGeom prst="rect">
            <a:avLst/>
          </a:prstGeom>
        </p:spPr>
      </p:pic>
      <p:sp>
        <p:nvSpPr>
          <p:cNvPr id="67" name="Text 59"/>
          <p:cNvSpPr/>
          <p:nvPr/>
        </p:nvSpPr>
        <p:spPr>
          <a:xfrm>
            <a:off x="4090797" y="60533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Context</a:t>
            </a:r>
            <a:endParaRPr lang="en-US" sz="1150" dirty="0"/>
          </a:p>
        </p:txBody>
      </p:sp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6208776"/>
            <a:ext cx="256032" cy="256032"/>
          </a:xfrm>
          <a:prstGeom prst="rect">
            <a:avLst/>
          </a:prstGeom>
        </p:spPr>
      </p:pic>
      <p:sp>
        <p:nvSpPr>
          <p:cNvPr id="69" name="Text 60"/>
          <p:cNvSpPr/>
          <p:nvPr/>
        </p:nvSpPr>
        <p:spPr>
          <a:xfrm>
            <a:off x="6909435" y="60533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Token Cost</a:t>
            </a:r>
            <a:endParaRPr lang="en-US" sz="1150" dirty="0"/>
          </a:p>
        </p:txBody>
      </p:sp>
      <p:pic>
        <p:nvPicPr>
          <p:cNvPr id="7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2313" y="6208776"/>
            <a:ext cx="256032" cy="256032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9728073" y="60533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Regressions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2026-07-17T11:25:43Z</dcterms:created>
  <dcterms:modified xsi:type="dcterms:W3CDTF">2026-07-17T11:25:43Z</dcterms:modified>
</cp:coreProperties>
</file>